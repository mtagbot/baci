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حدود ۲۰ ثانیه.</a:t>
            </a:r>
          </a:p>
          <a:p>
            <a:r>
              <a:t>سلام و خوش‌آمد؛ موضوع ارائه، ارزیابی تکنولوژی‌های تولید محصول بر پایه ابعاد انقلاب صنعتی پنجم و اقتصاد چرخشی است.</a:t>
            </a:r>
          </a:p>
          <a:p>
            <a:r>
              <a:t>روش کار: یک رویکرد تصمیم‌گیری ترکیبی فازی (فوکام فازی + تاپسیس فازی) با مطالعه موردی صنعت بیوتکنولوژی.</a:t>
            </a:r>
          </a:p>
          <a:p>
            <a:r>
              <a:t>محتوای ارائه برگرفته از فصل‌های اول تا سوم پایان‌نامه است. نام ارائه‌دهنده را در همین کادر جایگزین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۳۰ ثانیه.</a:t>
            </a:r>
          </a:p>
          <a:p>
            <a:r>
              <a:t>ساختار ارائه را به‌صورت گذرا معرفی کنید و بگویید که تمرکز اصلی روی فصل دوم و سوم است، چون پاسخ پرسش اصلی در آن شکل می‌گیرد.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۴۵ ثانیه.</a:t>
            </a:r>
          </a:p>
          <a:p>
            <a:r>
              <a:t>سه گذار کلان را نام ببرید: کارخانه هوشمند (انقلاب ۴)، انسان‌محوری (انقلاب ۵)، و چرخش‌پذیری (اقتصاد چرخشی).</a:t>
            </a:r>
          </a:p>
          <a:p>
            <a:r>
              <a:t>تأکید کنید که این پژوهش در نقطه تلاقی سه گذار قرار دارد و صنعت بیوتکنولوژی نمونه‌ای است که هر سه فشار را همزمان تجربه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ستون راست: پیچیدگی خود تصمیم (تنوع گزینه‌ها، اهداف متعارض، عدم‌قطعیت محیط).</a:t>
            </a:r>
          </a:p>
          <a:p>
            <a:r>
              <a:t>ستون چپ: آنچه در ادبیات کم‌تر دیده شده است؛ یعنی نگاه تک‌بعدی و بی‌توجهی به ابعاد انسانی و زیست‌محیطی.</a:t>
            </a:r>
          </a:p>
          <a:p>
            <a:r>
              <a:t>در پایان، پرسش محوری را دقیقاً بخوانید؛ این جمله نقشه راه کل ارائه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۴۵ ثانیه.</a:t>
            </a:r>
          </a:p>
          <a:p>
            <a:r>
              <a:t>چهار محرک ضرورت پژوهش را سریع مرور کنید: هزینه تصمیم نادرست، الزامات پایداری، آسیب‌پذیری زنجیره تأمین و نیاز به ابزار تصمیم شفاف.</a:t>
            </a:r>
          </a:p>
          <a:p>
            <a:r>
              <a:t>نوار پایانی جمله‌ی «نتیجه» است؛ آن را کامل بخوانید تا وارد بخش اهداف شوید.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سوال اصلی را بخوانید و بگویید پاسخ آن در قالب سه هدف فرعی پیگیری می‌شود: تعیین معیارها، وزن‌دهی و اولویت‌بندی گزینه‌ها.</a:t>
            </a:r>
          </a:p>
          <a:p>
            <a:r>
              <a:t>به نوار زرد اشاره کنید: این پژوهش آزمون فرض آماری ندارد؛ پس انتظار بخش فرضیه‌ها را در ارائه نداشته باشید.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۴۵ ثانیه.</a:t>
            </a:r>
          </a:p>
          <a:p>
            <a:r>
              <a:t>سه ستون را به‌سرعت معرفی کنید: چه چیزی نوآورانه است، کجا به کار می‌آید و چه کسانی از آن استفاده می‌کنند.</a:t>
            </a:r>
          </a:p>
          <a:p>
            <a:r>
              <a:t>اگر زمان کم شد، تنها ستون «نوآوری پژوهش» را کامل توضیح دهید.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۱۰ ثانیه. ورود به فصل دوم؛ فقط عنوان را بگویید و سریع رد شوید.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۴۵ ثانیه.</a:t>
            </a:r>
          </a:p>
          <a:p>
            <a:r>
              <a:t>تعریف زنجیره تأمین و ماهیت دوگانه جریان (مواد و اطلاعات) را بگویید، سپس روی تصویر پایین اشاره کنید و بازیگران زنجیره را نام ببرید.</a:t>
            </a:r>
          </a:p>
          <a:p>
            <a:r>
              <a:t>پیام انتقالی: هر تصمیم درباره تکنولوژی تولید، مستقیماً روی عملکرد کل این زنجیره اثر می‌گذارد.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پیام کلیدی: انتخاب تکنولوژی فقط یک تصمیم فنی نیست؛ فنی، اقتصادی، سازمانی، انسانی و محیطی است.</a:t>
            </a:r>
          </a:p>
          <a:p>
            <a:r>
              <a:t>به نکته انتهایی اشاره کنید: اتکای صرف به تحلیل مالی، مزیت‌های راهبردی بلندمدت را پنهان می‌کند؛ این همان جایی است که چارچوب چندمعیاره وارد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تفاوت کلیدی را برجسته کنید: انقلاب چهارم بر دیجیتالی‌سازی و اتوماسیون متمرکز بود، انقلاب پنجم بر تعامل انسان و ماشین با هدف پایداری و تاب‌آوری.</a:t>
            </a:r>
          </a:p>
          <a:p>
            <a:r>
              <a:t>سه ستون را نام ببرید و سپس جمله پایین را بخوانید: گذار به انقلاب پنجم، تحول فرهنگی و ساختاری هم می‌خواهد.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۵۰ ثانیه.</a:t>
            </a:r>
          </a:p>
          <a:p>
            <a:r>
              <a:t>تفاوت مدل خطی و چرخشی را روی نوار نارنجی نشان دهید و بگویید معیارهای ارزیابی تکنولوژی باید این چرخه‌پذیری را بسنجند.</a:t>
            </a:r>
          </a:p>
          <a:p>
            <a:r>
              <a:t>در پایان، پیوند را صریح بگویید: تکنولوژی تولید، تعیین‌کننده میزان چرخش‌پذیری محصول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۷۰ ثانیه.</a:t>
            </a:r>
          </a:p>
          <a:p>
            <a:r>
              <a:t>لازم نیست همه‌ی موارد را بخوانید؛ دو مطالعه از هر ستون را انتخاب کنید.</a:t>
            </a:r>
          </a:p>
          <a:p>
            <a:r>
              <a:t>از ستون خارجی: پژوهش‌های حوزه بیوتکنولوژی (سومان و اشمیت) و از ستون داخلی: عوض‌پور (BWM و VIKOR).</a:t>
            </a:r>
          </a:p>
          <a:p>
            <a:r>
              <a:t>در پایان نوار جمع‌بندی را بخوانید و بگویید این نقطه، محل ورود پژوهش حاضر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۷۰ ثانیه.</a:t>
            </a:r>
          </a:p>
          <a:p>
            <a:r>
              <a:t>ستون راست (انقلاب پنجم): بر یافته‌ی مالیک و همکاران تأکید کنید که تاب‌آوری را مهم‌ترین محرک می‌داند.</a:t>
            </a:r>
          </a:p>
          <a:p>
            <a:r>
              <a:t>ستون چپ (اقتصاد چرخشی): بر ادغام BWM و تاپسیس فازی در کار تراماریکو اشاره کنید، چون نزدیک‌ترین پیشینه به روش پژوهش حاضر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۵۰ ثانیه.</a:t>
            </a:r>
          </a:p>
          <a:p>
            <a:r>
              <a:t>جدول را سریع مرور کنید و تنها روی دو نکته توقف کنید: (۱) روش‌های پرکاربرد پیشینه، (۲) ردیف آخر که پژوهش حاضر را با ترکیب فوکام فازی و تاپسیس فازی و مطالعه موردی بیوتکنولوژی متمایز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۵۰ ثانیه.</a:t>
            </a:r>
          </a:p>
          <a:p>
            <a:r>
              <a:t>سه‌گانه‌ی جدایی جریان‌های پژوهشی را توضیح دهید و بگویید خلأ در «تلفیق» و «صنعت بیوتکنولوژی» است.</a:t>
            </a:r>
          </a:p>
          <a:p>
            <a:r>
              <a:t>نوار تیره پایانی، دقیقاً موقعیت پژوهش حاضر را بیان می‌کند؛ آن را کامل بخوانید و وارد فصل سوم شوید.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۱۰ ثانیه. ورود به فصل سوم؛ عنوان را بگویید و سریع به چارچوب روش بروید.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پنج گام را از راست به چپ معرفی کنید. تأکید کنید گام ۳ (وزن‌دهی) و گام ۴ (رتبه‌بندی) هسته‌ی نوآوری روشی این پژوهش‌اند.</a:t>
            </a:r>
          </a:p>
          <a:p>
            <a:r>
              <a:t>ورودی‌ها و خروجی‌های مدل را خیلی سریع توضیح دهید تا وارد جزئیات معیارها شوید.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حفظ نکنید که همه ۱۵ معیار خوانده شود؛ فقط چهار بُعد را معرفی کنید و بگویید چند معیار در هر بُعد وجود دارد.</a:t>
            </a:r>
          </a:p>
          <a:p>
            <a:r>
              <a:t>مثال بزنید: «قابلیت بازیابی ظرفیت» معیار تاب‌آوری و «بهره‌وری بازیافت مواد» معیار چرخش‌پذیری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چهار گزینه را با یک ویژگی متمایزکننده معرفی کنید: میکروفلوئیدیک (کاهش مصرف مواد)، سیلیکونی (مقیاس بالا)، یکپارچه (اتوماسیون کامل) و کنترل کیفیت یکپارچه (تأیید توالی).</a:t>
            </a:r>
          </a:p>
          <a:p>
            <a:r>
              <a:t>اشاره کنید که این فهرست محدود نیست و مهم‌ترین گزینه‌های موجود را پوشش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۵۰ ثانیه.</a:t>
            </a:r>
          </a:p>
          <a:p>
            <a:r>
              <a:t>روی مزیت اصلی فوکام تأکید کنید: کاهش تعداد مقایسه‌ها به n−۱ و تضمین سازگاری کامل.</a:t>
            </a:r>
          </a:p>
          <a:p>
            <a:r>
              <a:t>جدول مقیاس را سریع رد کنید و مسیر سه‌گامی را معرفی کنید تا به گام‌های دقیق برسید.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۵۰ ثانیه.</a:t>
            </a:r>
          </a:p>
          <a:p>
            <a:r>
              <a:t>سه گام را به ترتیب از راست بخوانید. اگر فرصت داشتی، مثال بزن: «اگر معیار ایمنی مهم‌تر از آموزش باشد، همین نسبت به‌صورت عدد فازی وارد مدل می‌شود.»</a:t>
            </a:r>
          </a:p>
          <a:p>
            <a:r>
              <a:t>در پایان، شرط سازگاری را توضیح دهید: هدف، کمینه‌کردن انحراف وزن‌های محاسبه‌شده از قضاوت خبرگان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۵۰ ثانیه.</a:t>
            </a:r>
          </a:p>
          <a:p>
            <a:r>
              <a:t>شش مرحله را سریع مرور کنید؛ تأکید کنید که وزن‌های فازی معیارها از مرحله فوکام وارد مرحله سوم تاپسیس می‌شود (نقطه اتصال دو روش).</a:t>
            </a:r>
          </a:p>
          <a:p>
            <a:r>
              <a:t>نوار تیره پایانی، خروجی نهایی ارائه را نشان می‌دهد: رتبه‌بندی چهار فناوری سنتز DNA.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۶۰ ثانیه.</a:t>
            </a:r>
          </a:p>
          <a:p>
            <a:r>
              <a:t>سه پیام: چه چیزی ساخته شد (چارچوب)، چه مزیتی دارد (کم‌مقایسه، شفاف، قابل تعمیم) و گام‌های بعدی چیست.</a:t>
            </a:r>
          </a:p>
          <a:p>
            <a:r>
              <a:t>این اسلاید پل ورود به فصل چهارم است؛ اگر پرسشی درباره نتایج عددی شد، بگویید محاسبات در فصل چهارم تکمیل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زمان: ۱۵ ثانیه.</a:t>
            </a:r>
          </a:p>
          <a:p>
            <a:r>
              <a:t>از توجه مخاطبان تشکر کنید و برای پرسش‌ها آماده شوید. پاسخ‌های کوتاه بدهید و در صورت نیاز به اسلایدهای پیشینه (اسلایدهای ۱۳ تا ۱۶) بازگردید.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rt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>
              <a:alpha val="6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98448"/>
            <a:ext cx="7415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0E9AA6"/>
                </a:solidFill>
                <a:latin typeface="Tahoma"/>
                <a:ea typeface="Tahoma"/>
                <a:cs typeface="Tahoma"/>
              </a:rPr>
              <a:t>ارائه پایان‌نامه  |  فصل‌های اول تا سوم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701784" y="1755648"/>
            <a:ext cx="1920240" cy="0"/>
          </a:xfrm>
          <a:prstGeom prst="line">
            <a:avLst/>
          </a:prstGeom>
          <a:ln w="31750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77640" y="1965960"/>
            <a:ext cx="7644384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29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ارزیابی تکنولوژی‌های تولید محصول</a:t>
            </a:r>
          </a:p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9FD9DF"/>
                </a:solidFill>
                <a:latin typeface="Tahoma"/>
                <a:ea typeface="Tahoma"/>
                <a:cs typeface="Tahoma"/>
              </a:rPr>
              <a:t>بر پایه ابعاد انقلاب صنعتی پنجم و اقتصاد چرخشی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3950208"/>
            <a:ext cx="7644384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رویکرد تصمیم‌گیری ترکیبی فازی: فوکام فازی برای وزن‌دهی و تاپسیس فازی برای رتبه‌بندی</a:t>
            </a:r>
          </a:p>
          <a:p>
            <a:pPr rtl="1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مطالعه موردی: صنعت بیوتکنولوژی (سنتز DNA)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5349240"/>
            <a:ext cx="6272784" cy="960120"/>
          </a:xfrm>
          <a:prstGeom prst="roundRect">
            <a:avLst>
              <a:gd name="adj" fmla="val 10000"/>
            </a:avLst>
          </a:prstGeom>
          <a:solidFill>
            <a:srgbClr val="123554"/>
          </a:solidFill>
          <a:ln w="9525">
            <a:solidFill>
              <a:srgbClr val="25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03152" y="5468112"/>
            <a:ext cx="73152" cy="722376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5486400"/>
            <a:ext cx="580644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ارائه‌دهنده: [نام و نام خانوادگی]</a:t>
            </a:r>
          </a:p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بازه زمانی ارائه: ۱۵ دقیقه  |  پرسش و پاسخ: ۵ دقیقه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مسیر گفتگو در ۱۵ دقیقه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راهنمای ارائه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۲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36192"/>
            <a:ext cx="11057839" cy="969264"/>
          </a:xfrm>
          <a:prstGeom prst="roundRect">
            <a:avLst>
              <a:gd name="adj" fmla="val 9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" y="1536192"/>
            <a:ext cx="10838383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17936" y="1709928"/>
            <a:ext cx="621792" cy="621792"/>
          </a:xfrm>
          <a:prstGeom prst="ellipse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664208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کلیات و طرح مسئله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020824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زمینه‌های کلان صنعت، بیان مسئله، ضرورت و اهمیت، پرسش‌ها و اهداف پژوهش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1801368"/>
            <a:ext cx="1234440" cy="438912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۳ دقیقه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42616"/>
            <a:ext cx="11057839" cy="969264"/>
          </a:xfrm>
          <a:prstGeom prst="roundRect">
            <a:avLst>
              <a:gd name="adj" fmla="val 9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" y="2642616"/>
            <a:ext cx="10838383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7936" y="2816352"/>
            <a:ext cx="621792" cy="621792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0" y="2770632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مبانی نظری و پیشینه پژوهش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127248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زنجیره تأمین، انتخاب تکنولوژی، انقلاب صنعتی پنجم، اقتصاد چرخشی و شکاف پژوهش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907792"/>
            <a:ext cx="1234440" cy="438912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۵ دقیقه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749040"/>
            <a:ext cx="11057839" cy="969264"/>
          </a:xfrm>
          <a:prstGeom prst="roundRect">
            <a:avLst>
              <a:gd name="adj" fmla="val 9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" y="3749040"/>
            <a:ext cx="10838383" cy="77724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7936" y="3922776"/>
            <a:ext cx="621792" cy="621792"/>
          </a:xfrm>
          <a:prstGeom prst="ellipse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3877056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روش اجرای تحقیق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233672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شناسایی معیارها و گزینه‌ها، وزن‌دهی با فوکام فازی و رتبه‌بندی با تاپسیس فازی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014216"/>
            <a:ext cx="1234440" cy="438912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۵ دقیقه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55464"/>
            <a:ext cx="11057839" cy="969264"/>
          </a:xfrm>
          <a:prstGeom prst="roundRect">
            <a:avLst>
              <a:gd name="adj" fmla="val 9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" y="4855464"/>
            <a:ext cx="10838383" cy="77724"/>
          </a:xfrm>
          <a:prstGeom prst="rect">
            <a:avLst/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7936" y="5029200"/>
            <a:ext cx="621792" cy="621792"/>
          </a:xfrm>
          <a:prstGeom prst="ellipse">
            <a:avLst/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4983480"/>
            <a:ext cx="7040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جمع‌بندی و مسیر پیش رو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340096"/>
            <a:ext cx="7040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دستاوردها و مزیت‌های رویکرد پیشنهادی و گام‌های بعدی پژوهش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5120640"/>
            <a:ext cx="1234440" cy="438912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۲ دقیقه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96188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زمان‌بندی پیشنهادی: ۳ + ۵ + ۵ + ۲ دقیقه؛ در پایان هر بخش یک جمله جمع‌بندی و سپس ورود به بخش بعد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اول | مقدمه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زمینه پژوهش: سه گذار کلان در صنعت امروز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۳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554480"/>
            <a:ext cx="7004304" cy="1161288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7448" y="1554480"/>
            <a:ext cx="6784848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000232" y="1792224"/>
            <a:ext cx="566928" cy="566928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1682496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گذار به کارخانه هوشمند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029968"/>
            <a:ext cx="5989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انقلاب صنعتی چهارم با دیجیتالی‌سازی، یکپارچه‌سازی سیستم‌ها و اتوماسیون، بهره‌وری و کارایی تولید را متحول کرد.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852928"/>
            <a:ext cx="7004304" cy="1161288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27448" y="2852928"/>
            <a:ext cx="6784848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0232" y="3090672"/>
            <a:ext cx="566928" cy="566928"/>
          </a:xfrm>
          <a:prstGeom prst="ellipse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980944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گذار از فناورمحوری به انسان‌محوری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328416"/>
            <a:ext cx="5989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انقلاب صنعتی پنجم (طرح کمیسیون اروپا، ۲۰۲۱) فناوری را در خدمت رفاه انسان، پایداری و تاب‌آوری قرار می‌دهد.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151376"/>
            <a:ext cx="7004304" cy="1161288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27448" y="4151376"/>
            <a:ext cx="6784848" cy="77724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00232" y="4389120"/>
            <a:ext cx="566928" cy="566928"/>
          </a:xfrm>
          <a:prstGeom prst="ellipse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4279392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گذار از اقتصاد خطی به اقتصاد چرخشی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4626864"/>
            <a:ext cx="5989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بازطراحی محصول، استفاده مجدد، بازیافت و کاهش پسماند؛ جداسازی رشد اقتصادی از مصرف منابع.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148840"/>
            <a:ext cx="3703320" cy="214884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industry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86000"/>
            <a:ext cx="3392424" cy="174926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66928" y="4443984"/>
            <a:ext cx="3703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همافزایی انسان و ماشین: سه ستون اصلی انقلاب صنعتی پنجم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440680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E3F4F6"/>
          </a:solidFill>
          <a:ln w="9525">
            <a:solidFill>
              <a:srgbClr val="B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605272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بستر مطالعه: </a:t>
            </a:r>
            <a:r>
              <a:rPr sz="12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صنعت بیوتکنولوژی؛ ماهیت دانش‌بنیان، حساسیت بالا به الزامات پایداری و وابستگی به فناوری‌های پیشرفته تولید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اول | طرح مسئله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بیان مسئله: چرا انتخاب تکنولوژی یک تصمیم راهبردی است؟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۴ / ۲۵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554480"/>
            <a:ext cx="68580" cy="3218688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54480"/>
            <a:ext cx="68580" cy="3218688"/>
          </a:xfrm>
          <a:prstGeom prst="rect">
            <a:avLst/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572768"/>
            <a:ext cx="5230368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چالش‌های تصمیم‌گیری درباره فناوری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تنوع گسترده گزینه‌های فناورانه؛ انتخاب تکنولوژی به یک تصمیم راهبردی چندبعدی تبدیل شده است (عبدالله و همکاران، ۲۰۲۳).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پروژه‌های فناورانه، پرریسک و پربازده‌اند؛ اهداف متنوع و گاه متعارض (هزینه، کیفیت، سرعت، انعطاف‌پذیری و پایداری) ارزیابی را پیچیده می‌کند.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نوسانات بازار، بحران‌های ژئوپلیتیک و همه‌گیری کووید-۱۹ ضعف مدل‌های سنتی زنجیره تأمین را آشکار کرد (بلهادی و همکاران، ۲۰۲۴؛ دوچک، ۲۰۲۰).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" y="1572768"/>
            <a:ext cx="49834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خلأ پژوهش‌های موجود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ارزیابی تکنولوژی‌های تولید غالباً از دیدگاه‌های جزئی و تک‌بعدی انجام شده است.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ابعاد انسانی، اجتماعی و زیست‌محیطی در کنار معیارهای فنی و اقتصادی به‌صورت همزمان لحاظ نشده‌اند.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قضاوت‌های خبرگان ماهیتی زبانی و مبهم دارند؛ ضرورت مدل‌سازی در محیط فازی.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56048"/>
            <a:ext cx="11057839" cy="1051560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C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" y="4956048"/>
            <a:ext cx="10838383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38928"/>
            <a:ext cx="104543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پرسش محوری: </a:t>
            </a:r>
            <a:r>
              <a:rPr sz="12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فقدان یک چارچوب یکپارچه که بتواند معیارهای فنی، اقتصادی، انسانی و زیست‌محیطی را همزمان و در شرایط عدم‌قطعیت برای ارزیابی تکنولوژی‌های تولید تحلیل کند؛ خألی که این پژوهش به آن پاسخ می‌دهد.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اول | اهمیت موضوع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ضرورت و اهمیت پژوهش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۵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536192"/>
            <a:ext cx="5394960" cy="1719072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6792" y="1536192"/>
            <a:ext cx="5175504" cy="77724"/>
          </a:xfrm>
          <a:prstGeom prst="rect">
            <a:avLst/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773936"/>
            <a:ext cx="4882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هزینه انتخاب نادرست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57984"/>
            <a:ext cx="488289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انتخاب فناوری ناهم‌راستا با اهداف راهبردی، هزینه‌های اصلاح مسیر، تغییر فناوری و سرمایه‌گذاری مجدد را تحمیل می‌کند (بوستامنته و همکاران، ۲۰۱۰).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536192"/>
            <a:ext cx="5394960" cy="1719072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6656" y="1536192"/>
            <a:ext cx="5175504" cy="77724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773936"/>
            <a:ext cx="4882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فشار الزامات پایداری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157984"/>
            <a:ext cx="488289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گذار پارادایمی از انقلاب صنعتی چهارم به پنجم، استانداردهای جدیدی برای پذیرش فناوری در صنایع پیشرفته ایجاد کرده است.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3401568"/>
            <a:ext cx="5394960" cy="1719072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6792" y="3401568"/>
            <a:ext cx="5175504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3639312"/>
            <a:ext cx="4882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آسیب‌پذیری زنجیره‌های تأمین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023360"/>
            <a:ext cx="488289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بحران‌های زیست‌محیطی، محدودیت منابع و انتظارات اجتماعی، بازاندیشی در شیوه‌های مدیریت زنجیره تأمین را ضروری ساخته است.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401568"/>
            <a:ext cx="5394960" cy="1719072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" y="3401568"/>
            <a:ext cx="5175504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39312"/>
            <a:ext cx="48828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نیاز به ابزار تصمیم شفاف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023360"/>
            <a:ext cx="488289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مدیران و سیاست‌گذاران به چارچوبی نظام‌مند، قابل دفاع و مبتنی بر معیارهای چندبعدی نیاز دارند.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321808"/>
            <a:ext cx="11057839" cy="777240"/>
          </a:xfrm>
          <a:prstGeom prst="roundRect">
            <a:avLst>
              <a:gd name="adj" fmla="val 10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513832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7FD4DC"/>
                </a:solidFill>
                <a:latin typeface="Tahoma"/>
                <a:ea typeface="Tahoma"/>
                <a:cs typeface="Tahoma"/>
              </a:rPr>
              <a:t>نتیجه: </a:t>
            </a:r>
            <a:r>
              <a:rPr sz="1250" b="0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ارزیابی تکنولوژی‌های تولید باید همزمان کارایی فنی و اقتصادی، مسئولیت‌پذیری زیست‌محیطی، انسان‌محوری و تاب‌آوری را بسنجد.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اول | اهداف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پرسش‌ها و اهداف پژوهش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۶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17904"/>
            <a:ext cx="11057839" cy="1243584"/>
          </a:xfrm>
          <a:prstGeom prst="roundRect">
            <a:avLst>
              <a:gd name="adj" fmla="val 9000"/>
            </a:avLst>
          </a:prstGeom>
          <a:solidFill>
            <a:srgbClr val="F6F9FC"/>
          </a:solidFill>
          <a:ln w="9525">
            <a:solidFill>
              <a:srgbClr val="C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" y="1517904"/>
            <a:ext cx="10838383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627632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سوال اصلی پژوهش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975104"/>
            <a:ext cx="104543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چگونه می‌توان یک رویکرد تصمیم‌گیری ترکیبی فازی برای ارزیابی تکنولوژی‌های تولید محصول بر پایه ابعاد انقلاب صنعتی پنجم و اقتصاد چرخشی، با تمرکز بر صنعت بیوتکنولوژی، ارائه کرد؟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944368"/>
            <a:ext cx="5477256" cy="2286000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هدف اصلی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38144"/>
            <a:ext cx="4965192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ارائه یک رویکرد تصمیم‌گیری ترکیبی فازی برای ارزیابی تکنولوژی‌های تولید محصول بر پایه ابعاد انقلاب صنعتی پنجم و اقتصاد چرخشی، با تمرکز بر صنعت بیوتکنولوژی.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944368"/>
            <a:ext cx="5303520" cy="2286000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08960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اهداف فرعی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19856"/>
            <a:ext cx="4791456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تعیین و تحلیل مرتبط‌ترین معیارها و زیرمعیارهای ارزیابی تکنولوژی‌های تولید.</a:t>
            </a:r>
          </a:p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وزن‌دهی معیارها و زیرمعیارها با تکنیک‌های تصمیم‌گیری چندشاخصه.</a:t>
            </a:r>
          </a:p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شناسایی و اولویت‌بندی تکنولوژی‌های تولید با روش‌های تصمیم‌گیری چندشاخصه.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431536"/>
            <a:ext cx="11057839" cy="685800"/>
          </a:xfrm>
          <a:prstGeom prst="roundRect">
            <a:avLst>
              <a:gd name="adj" fmla="val 10000"/>
            </a:avLst>
          </a:prstGeom>
          <a:solidFill>
            <a:srgbClr val="FDF2E2"/>
          </a:solidFill>
          <a:ln w="9525">
            <a:solidFill>
              <a:srgbClr val="F0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96128"/>
            <a:ext cx="1045433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E0932F"/>
                </a:solidFill>
                <a:latin typeface="Tahoma"/>
                <a:ea typeface="Tahoma"/>
                <a:cs typeface="Tahoma"/>
              </a:rPr>
              <a:t>فرضیه: </a:t>
            </a:r>
            <a:r>
              <a:rPr sz="12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پژوهش با رویکرد تصمیم‌گیری چندشاخصه انجام می‌شود و آزمون فرض آماری یا مدل ریاضی آزمون‌پذیر ندارد؛ بنابراین فرضیه‌سازی معنادار نیست.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اول | ارزش‌آفرینی پژوهش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نوآوری، کاربردها و بهره‌برداران نتایج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۷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36192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1312" y="1536192"/>
            <a:ext cx="3300984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75564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نوآوری پژوهش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176272"/>
            <a:ext cx="30632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تلفیق هم‌زمان ابعاد انقلاب صنعتی پنجم و اصول اقتصاد چرخشی در یک چارچوب واحد.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به‌کارگیری منطق فازی در تمام مراحل: از شناسایی و وزن‌دهی معیارها تا رتبه‌بندی نهایی.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پوشش خلأ ادبیات در صنعت بیوتکنولوژی به‌عنوان صنعتی پیشرفته و حساس.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536192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1536192"/>
            <a:ext cx="3300984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75564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کاربردهای پژوهش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176272"/>
            <a:ext cx="30632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سطح مدیریتی: ارزیابی نظام‌مند و شفاف تکنولوژی‌های تولید و پرهیز از تصمیم‌های کوتاه‌نگرانه.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سطح سیاست‌گذاری: تدوین مشوق‌ها و استانداردهای پذیرش فناوری‌های پایدار.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سطح علمی: مبنایی برای پژوهش‌های آتی و مقایسه سناریوهای فناوری در شرایط عدم‌قطعیت.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536192"/>
            <a:ext cx="3520440" cy="44348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656" y="1536192"/>
            <a:ext cx="3300984" cy="77724"/>
          </a:xfrm>
          <a:prstGeom prst="rect">
            <a:avLst/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1755648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بهره‌برداران نتایج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2176272"/>
            <a:ext cx="306324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مدیران ارشد، تصمیم‌گیرندگان و برنامه‌ریزان راهبردی صنعت بیوتکنولوژی.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سیاست‌گذاران و نهادهای دولتی حوزه توسعه صنعتی و فناوری.</a:t>
            </a:r>
          </a:p>
          <a:p>
            <a:pPr rtl="1" algn="r" marL="274320" indent="-274320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استادان، پژوهشگران، دانشجویان مدیریت صنعتی و مهندسی صنایع و مشاوران صنعتی.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9"/>
              </a:gs>
              <a:gs pos="100000">
                <a:srgbClr val="07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554480"/>
            <a:ext cx="4754880" cy="4754880"/>
          </a:xfrm>
          <a:prstGeom prst="ellipse">
            <a:avLst/>
          </a:prstGeom>
          <a:noFill/>
          <a:ln w="15875">
            <a:solidFill>
              <a:srgbClr val="1B4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-1005840"/>
            <a:ext cx="3657600" cy="3657600"/>
          </a:xfrm>
          <a:prstGeom prst="ellipse">
            <a:avLst/>
          </a:prstGeom>
          <a:noFill/>
          <a:ln w="12700">
            <a:solidFill>
              <a:srgbClr val="1B4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82735" y="4206240"/>
            <a:ext cx="4206240" cy="4206240"/>
          </a:xfrm>
          <a:prstGeom prst="ellipse">
            <a:avLst/>
          </a:prstGeom>
          <a:noFill/>
          <a:ln w="15875">
            <a:solidFill>
              <a:srgbClr val="14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4207" y="17830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 lang="fa-IR">
                <a:solidFill>
                  <a:srgbClr val="0E9AA6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6527" y="297180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مبانی نظری و پیشینه پژوهش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95967" y="3950208"/>
            <a:ext cx="1828800" cy="0"/>
          </a:xfrm>
          <a:prstGeom prst="line">
            <a:avLst/>
          </a:prstGeom>
          <a:ln w="31750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46527" y="41148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از مفاهیم بنیادین زنجیره تأمین تا شکاف پژوهش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2910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۸ / ۲۵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مبانی نظری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زنجیره تأمین: نگاهی سیستمی به جریان ارزش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۹ / ۲۵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548640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2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شبکه‌ای یکپارچه از تسهیلات، فرایندها و فعالیت‌ها؛ از تأمین مواد اولیه تا تحویل محصول به مشتری (رحیمی و فضل‌الله‌تبار، ۲۰۱۸).</a:t>
            </a:r>
          </a:p>
          <a:p>
            <a:pPr rtl="1" algn="r" marL="274320" indent="-274320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2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جریان دوگانه: مواد و کالا از بالادست به پایین‌دست و اطلاعات از پایین‌دست به بالادست (چوپرا و همکاران، ۲۰۰۷).</a:t>
            </a:r>
          </a:p>
          <a:p>
            <a:pPr rtl="1" algn="r" marL="274320" indent="-274320">
              <a:lnSpc>
                <a:spcPct val="135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2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مدیریت زنجیره تأمین، تصمیم‌ها و عملیات اعضا را هم‌راستا می‌کند و واکنش سریع به تغییرات محیطی را ممکن می‌سازد (زینگباگبا و همکاران، ۲۰۲۰).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36192"/>
            <a:ext cx="5221224" cy="283464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2" y="170078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زنجیره تأمین و بازیگران کلیدی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2" y="208483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بالادست: تأمین‌کنندگان مواد اولیه و نهاده‌ها.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63347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میان‌دست: تولیدکننده و توزیع‌کننده.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318211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پایین‌دست: خرده‌فروش و مشتری نهایی.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6832" y="3730752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پشتیبانی: خدمات پس از عرضه و بازخورد مشتریان.</a:t>
            </a:r>
          </a:p>
        </p:txBody>
      </p:sp>
      <p:pic>
        <p:nvPicPr>
          <p:cNvPr id="18" name="Picture 17" descr="supply_ch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4526280"/>
            <a:ext cx="9509760" cy="1524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" y="5870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شکل: جریان مواد و اطلاعات در زنجیره تأمین (برگرفته از مفاهیم فصل دوم)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مبانی نظری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انتخاب تکنولوژی‌های تولید: تصمیمی چندبعدی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۱۰ / ۲۵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536192"/>
            <a:ext cx="5861304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تکنولوژی، اهرم کلیدی حفظ و تقویت رقابت‌پذیری سازمان‌ها است (چوآنگ و همکاران، ۲۰۰۹؛ دلیما نونس و همکاران، ۲۰۱۵).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پروژه‌های فناورانه در دسته پرریسک و پربازده قرار می‌گیرند؛ همین موضوع حساسیت تصمیم را افزایش می‌دهد.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انتخاب تکنولوژی بر ساختار فرایندها، مهارت‌های نیروی انسانی، شیوه‌های کنترل و مدل کسب‌وکار اثر می‌گذارد.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ابزارهای انتخاب تکنولوژی، شناسایی عوامل کلیدی و کاهش تعارض‌های تصمیم‌گیری را ساده‌تر می‌کنند (کالدرارو و همکاران، ۲۰۲۰).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در عمل، بسیاری از شرکت‌ها به تحلیل‌های مالی اتکا می‌کنند و مزیت‌های راهبردی بلندمدت دیده نمی‌شود (بورناستن و همکاران، ۲۰۰۵).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موفقیت در پیاده‌سازی، به هم‌راستایی با نیازهای واقعی ذی‌نفعان نیز وابسته است (شورای تحقیقات ملی، ۱۹۹۶).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536192"/>
            <a:ext cx="4846320" cy="448056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dec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331720"/>
            <a:ext cx="4297680" cy="366098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1248" y="50292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تصمیم‌گیری چندمعیاره با مشارکت خبرگان: تلفیق قضاوت‌های انسانی با مدل‌های ریاضی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مبانی نظری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انقلاب صنعتی پنجم و سه ستون اصلی آن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۱۱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11057839" cy="896112"/>
          </a:xfrm>
          <a:prstGeom prst="roundRect">
            <a:avLst>
              <a:gd name="adj" fmla="val 9000"/>
            </a:avLst>
          </a:prstGeom>
          <a:solidFill>
            <a:srgbClr val="F6F9FC"/>
          </a:solidFill>
          <a:ln w="9525">
            <a:solidFill>
              <a:srgbClr val="C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" y="1481328"/>
            <a:ext cx="10838383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627632"/>
            <a:ext cx="10454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انقلاب صنعتی پنجم، مکمل انقلاب صنعتی چهارم و برخاسته از طرح کمیسیون اروپا (۲۰۲۱) است: فناوری‌های نسل چهارم نه فقط برای بهره‌وری، بلکه در خدمت اهداف اجتماعی، پایداری و رفاه نیروی کار به کار می‌روند (برکه و همکاران، ۲۰۲۱).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2542032"/>
            <a:ext cx="3520440" cy="184708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2542032"/>
            <a:ext cx="3300984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2743200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انسان‌محوری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3127248"/>
            <a:ext cx="3063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نیازها و علایق انسانی، اساس فرایند تولید؛ تعامل سازنده و هم‌افزا میان انسان و ماشین.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2542032"/>
            <a:ext cx="3520440" cy="184708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3984" y="2542032"/>
            <a:ext cx="3300984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2743200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تاب‌آوری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127248"/>
            <a:ext cx="3063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ظرفیت مقاومت در برابر وقفه‌ها و بازگشت کارآمد به وضعیت عادی پس از اختلال.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542032"/>
            <a:ext cx="3520440" cy="184708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6656" y="2542032"/>
            <a:ext cx="3300984" cy="77724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2743200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پایداری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" y="3127248"/>
            <a:ext cx="30632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سه بُعد اجتماعی، زیست‌محیطی و اقتصادی؛ پاسخ‌گویی به انتظارات فزاینده ذی‌نفعان.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663440"/>
            <a:ext cx="59436" cy="23774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636008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ارزش‌های اصلی انقلاب صنعتی پنجم (عبدالباسط و همکاران، ۲۰۲۵)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56048"/>
            <a:ext cx="57607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گذار از انقلاب چهارم به پنجم، صرفاً به‌کارگیری فناوری‌های نوین نیست؛ نیازمند تحول در ساختارها، ارزش‌ها و فرهنگ سازمانی است تا پایداری، تاب‌آوری و نوآوری در زنجیره تأمین نهادینه شود (گرابوسکا و همکاران، ۲۰۲۳).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4553712"/>
            <a:ext cx="4672584" cy="146304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0" name="Picture 29" descr="pillars_doc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681728"/>
            <a:ext cx="1975104" cy="151765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14032" y="484632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سه ارزش یکپارچه بنیادی که اساس این پارادایم را می‌سازند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مبانی نظری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اقتصاد چرخشی: از مدل خطی به چرخه بسته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۱۲ / ۲۵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536192"/>
            <a:ext cx="5861304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بازطراحی شیوه‌های بهره‌برداری از منابع؛ جریان مداوم مواد و انرژی در یک چرخه بسته.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جایگزینی مدل خطی «تولید – مصرف – دورریز» با چرخه‌های احیاکننده و بازگرداندن مواد به تولید (مونونیه، ۲۰۲۵).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کاهش پسماند، بهره‌وری منابع و جداسازی رشد اقتصادی از مصرف منابع (آچواندی رمچندانی و همکاران، ۲۰۲۱).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536192"/>
            <a:ext cx="5029200" cy="265176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circul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1755648"/>
            <a:ext cx="3749040" cy="204493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60720" y="3529584"/>
            <a:ext cx="5861304" cy="658368"/>
          </a:xfrm>
          <a:prstGeom prst="roundRect">
            <a:avLst>
              <a:gd name="adj" fmla="val 14000"/>
            </a:avLst>
          </a:prstGeom>
          <a:solidFill>
            <a:srgbClr val="FDF2E2"/>
          </a:solidFill>
          <a:ln w="9525">
            <a:solidFill>
              <a:srgbClr val="F0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648456"/>
            <a:ext cx="54041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E0932F"/>
                </a:solidFill>
                <a:latin typeface="Tahoma"/>
                <a:ea typeface="Tahoma"/>
                <a:cs typeface="Tahoma"/>
              </a:rPr>
              <a:t>مدل خطی: </a:t>
            </a: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تولید ← مصرف ← دورریز   |   </a:t>
            </a:r>
            <a:r>
              <a:rPr sz="1100" b="1" i="0" lang="fa-IR">
                <a:solidFill>
                  <a:srgbClr val="1E8E63"/>
                </a:solidFill>
                <a:latin typeface="Tahoma"/>
                <a:ea typeface="Tahoma"/>
                <a:cs typeface="Tahoma"/>
              </a:rPr>
              <a:t>مدل چرخشی: </a:t>
            </a: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بازطراحی ← استفاده مجدد ← بازیافت ← بازگرداندن به چرخه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15968"/>
            <a:ext cx="5029200" cy="1719072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17136"/>
            <a:ext cx="4553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پیوند با موضوع پژوهش</a:t>
            </a:r>
          </a:p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نحوه طراحی، تولید، نگهداری و بازیافت محصول، مستقیماً به توان فناورانه بنگاه وابسته است؛ پس ارزیابی تکنولوژی باید معیارهای چرخشی و اثرات زیست‌محیطی را نیز در نظر بگیرد.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315968"/>
            <a:ext cx="5861304" cy="1719072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98464" y="4517136"/>
            <a:ext cx="5404104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دامنه‌ی اثر</a:t>
            </a:r>
          </a:p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تلفیق ابعاد انقلاب صنعتی پنجم با اهداف اقتصاد چرخشی، چارچوبی فراگیر برای حرکت به‌سوی تولید هوشمند، اخلاقی و زیست‌پایدار فراهم می‌کند (رجب و همکاران، ۲۰۲۵).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مروری بر ادبیات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پیشینه پژوهش: ارزیابی تکنولوژی‌های تولید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۱۳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17904"/>
            <a:ext cx="5477256" cy="3977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517904"/>
            <a:ext cx="5257800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001768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تحقیقات خارجی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سومان و همکاران (۲۰۲۶): به‌کارگیری آمار پیشرفته و بهینه‌سازی (DOE، SPC، یادگیری ماشین) برای بهبود کارایی و تضمین کیفیت محصولات زیستی.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اشمیت و همکاران (۲۰۲۵): دوقلوی دیجیتال در تولید زیست‌دارویی و اثر آن بر پایش فرایند، کیفیت و کاهش هزینه‌های عملیاتی.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میراخوری و نیازی (۲۰۲۵): ظرفیت هوش مصنوعی و یادگیری ماشین در بهینه‌سازی تولید دارو و ضرورت چارچوب‌های نظارتی شفاف.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کیتیلا و همکاران (۲۰۲۶): ترکیب AHP فازی، TOPSIS فازی و CRITIC برای انتخاب فرایند تولید پایدار در شرایط عدم‌قطعیت.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517904"/>
            <a:ext cx="5303520" cy="39776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" y="1517904"/>
            <a:ext cx="5084064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700784"/>
            <a:ext cx="4828032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تحقیقات داخلی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عوض‌پور و همکاران (۱۴۰۴): اولویت‌بندی ۱۳ فناوری تولید برق با BWM و VIKOR فازی در ابعاد فنی، اقتصادی، اجتماعی و زیست‌محیطی.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شاه‌نظری و همکاران (۱۴۰۳): ارزیابی تکنولوژی‌های انرژی از پسماند با AHP و تکنیک‌های ترکیبی VIKOR و TOPSIS.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عباسی و قاسمی (۱۴۰۴): کاربردهای تولید افزایشی (چاپ سه‌بعدی) در خودروسازی و اثر آن بر زمان، هزینه و پایداری.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سرکار و گوسوانی (۲۰۲۶): مرور سیستماتیک MCDM در تولید هوشمند و شناسایی شکاف‌هایی مانند ادغام محدود هوش مصنوعی و کم‌توجهی به عدم‌قطعیت.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623560"/>
            <a:ext cx="11057839" cy="54864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33288"/>
            <a:ext cx="10454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جمع‌بندی: غلبه‌ی رویکردهای MCDM در ادبیات؛ اما تلفیق هم‌زمان ابعاد انقلاب صنعتی پنجم و اقتصاد چرخشی در ارزیابی تکنولوژی‌های تولید کم‌تر دیده می‌شود.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مروری بر ادبیات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پیشینه پژوهش: زنجیره تأمین در پرتو دو پارادایم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۱۴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17904"/>
            <a:ext cx="5477256" cy="40233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517904"/>
            <a:ext cx="5257800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00784"/>
            <a:ext cx="500176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زنجیره تأمین مبتنی بر انقلاب صنعتی پنجم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مالیک و همکاران (۲۰۲۶): با AHP فازی، «تاب‌آوری زنجیره تأمین» مهم‌ترین محرک پیاده‌سازی فناوری‌های انقلاب پنجم شناخته شد؛ سپس پایداری و صرفه‌جویی هزینه.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ژو و همکاران (۲۰۲۵): تلفیق فلسفه ناب، انقلاب پنجم و پایداری با دلفی فازی، دیمتل، AHP و ویکور فازی برای کاهش ریسک‌های زنجیره تأمین.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زمانی و همکاران (۱۴۰۴): چارچوب انتقال فناوری‌های پیشرفته در انقلاب پنجم با متن‌کاوی و تحلیل مضمون؛ ۵ خوشه و ۸ مرحله انتقال فناوری.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کسچی و چوپان (۱۴۰۴): اولویت‌بندی فناوری‌های انقلاب پنجم برای رفع موانع زنجیره تأمین دیجیتال با FUCOM و روش‌های MAIRCA، MABAC و ARAS.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517904"/>
            <a:ext cx="5303520" cy="40233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" y="1517904"/>
            <a:ext cx="5084064" cy="77724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700784"/>
            <a:ext cx="4828032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زنجیره تأمین مبتنی بر اقتصاد چرخشی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تراماریکو و همکاران (۲۰۲۶): ترکیب BWM و TOPSIS فازی برای ارزیابی پایداری زنجیره تأمین چرخشی؛ کیفیت و بعد اجتماعی مهم‌ترین عوامل.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واراراتچای و همکاران (۲۰۲۶): مقایسه پذیرش مدیریت چرخشی در مالزی و تایلند؛ موانع مشترک: هزینه عملیاتی بالا و کیفیت ناپایدار مواد بازیافتی.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دسوزا آندراده و همکاران (۲۰۲۵): چارچوب ارزیابی ادغام اصول چرخشی در صنعت موتورهای الکتریکی؛ بازیابی موتور، عمر محصول را طولانی‌تر می‌کند.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هاشمی پطرودی و شریف‌پور عربی (۲۰۲۵): شناسایی ۱۳ مانع بازگشت محصول در زنجیره چرخشی با دلفی خاکستری و GG-BWM.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669280"/>
            <a:ext cx="11057839" cy="502920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104543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نکته مشترک: روش‌های چندمعیاره‌ی فازی، ابزار غالب این حوزه‌اند؛ به‌ویژه BWM، FUCOM، AHP، VIKOR و TOPSIS.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جمع‌بندی پیشینه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خلاصه پیشینه پژوهش و جایگاه مطالعه حاضر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۱۵ / ۲۵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1536192"/>
          <a:ext cx="11057839" cy="4023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40166"/>
                <a:gridCol w="3431743"/>
                <a:gridCol w="2907449"/>
                <a:gridCol w="2478481"/>
              </a:tblGrid>
              <a:tr h="502920"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fa-IR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نویسنده / سال</a:t>
                      </a:r>
                    </a:p>
                  </a:txBody>
                  <a:tcPr marL="54864" marR="54864" marT="27432" marB="27432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fa-IR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هدف مطالعه</a:t>
                      </a:r>
                    </a:p>
                  </a:txBody>
                  <a:tcPr marL="54864" marR="54864" marT="27432" marB="27432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fa-IR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رویکرد و روش</a:t>
                      </a:r>
                    </a:p>
                  </a:txBody>
                  <a:tcPr marL="54864" marR="54864" marT="27432" marB="27432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fa-IR">
                          <a:solidFill>
                            <a:srgbClr val="FFFFFF"/>
                          </a:solidFill>
                          <a:latin typeface="Tahoma"/>
                          <a:ea typeface="Tahoma"/>
                          <a:cs typeface="Tahoma"/>
                        </a:rPr>
                        <a:t>مطالعه موردی</a:t>
                      </a:r>
                    </a:p>
                  </a:txBody>
                  <a:tcPr marL="54864" marR="54864" marT="27432" marB="27432" anchor="ctr">
                    <a:solidFill>
                      <a:srgbClr val="0B223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ایلدیریم و آییلدیز (۲۰۲۵)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انتخاب مناسب‌ترین تکنولوژی چاپ سه‌بعدی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BWM و FF-WASPAS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فناوری چاپ سه‌بعدی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عبدالباسط و همکاران (۲۰۲۵)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ارزیابی مزایای فناوری‌های انقلاب صنعتی پنجم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AHP و TOPSIS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مراقبت‌های بهداشتی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عوض‌پور و همکاران (۱۴۰۴)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اولویت‌بندی فناوری‌های تولید برق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BWM و VIKOR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صنعت برق ایران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تراماریکو و همکاران (۲۰۲۶)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ارزیابی پایداری زنجیره تأمین چرخشی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BWM و TOPSIS فازی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صنعت شیمیایی</a:t>
                      </a:r>
                    </a:p>
                  </a:txBody>
                  <a:tcPr marL="54864" marR="54864" marT="27432" marB="27432" anchor="ctr">
                    <a:solidFill>
                      <a:srgbClr val="F7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کیتیلا و همکاران (۲۰۲۶)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انتخاب فرایند تولید پایدار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AHP فازی، TOPSIS فازی و CRITIC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منیفولدهای هیدرولیکی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پژوهش حاضر</a:t>
                      </a:r>
                    </a:p>
                  </a:txBody>
                  <a:tcPr marL="54864" marR="54864" marT="27432" marB="27432" anchor="ctr">
                    <a:solidFill>
                      <a:srgbClr val="E8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شناسایی و ارزیابی تکنولوژی‌های تولید محصول</a:t>
                      </a:r>
                    </a:p>
                  </a:txBody>
                  <a:tcPr marL="54864" marR="54864" marT="27432" marB="27432" anchor="ctr">
                    <a:solidFill>
                      <a:srgbClr val="E8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فوکام فازی و تاپسیس فازی</a:t>
                      </a:r>
                    </a:p>
                  </a:txBody>
                  <a:tcPr marL="54864" marR="54864" marT="27432" marB="27432" anchor="ctr">
                    <a:solidFill>
                      <a:srgbClr val="E8F6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rtl="1" algn="r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 i="0" lang="fa-IR">
                          <a:solidFill>
                            <a:srgbClr val="2B3B4A"/>
                          </a:solidFill>
                          <a:latin typeface="Tahoma"/>
                          <a:ea typeface="Tahoma"/>
                          <a:cs typeface="Tahoma"/>
                        </a:rPr>
                        <a:t>صنعت بیوتکنولوژی (سنتز DNA)</a:t>
                      </a:r>
                    </a:p>
                  </a:txBody>
                  <a:tcPr marL="54864" marR="54864" marT="27432" marB="27432" anchor="ctr">
                    <a:solidFill>
                      <a:srgbClr val="E8F6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5870448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ردیف آخر (برجسته): جایگاه پژوهش حاضر در مقایسه با پیشینه داخلی و خارجی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دوم | جمع‌بندی ادبیات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شکاف پژوهش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۱۶ / ۲۵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536192"/>
            <a:ext cx="5861304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ادبیات در سه جریان نسبتاً مجزا شکل گرفته است: ارزیابی تکنولوژی، الزامات انقلاب صنعتی پنجم و اقتصاد چرخشی.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مطالعات محدودی این دو پارادایم را به‌صورت هم‌زمان در ارزیابی فناوری‌ها تلفیق کرده‌اند.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بخش عمده پژوهش‌ها بر صنایع دیگر متمرکز بوده‌اند؛ خلأ جدی در صنعت بیوتکنولوژی وجود دارد.</a:t>
            </a:r>
          </a:p>
          <a:p>
            <a:pPr rtl="1" algn="r" marL="274320" indent="-274320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چارچوب‌های تصمیم‌گیری که عدم‌قطعیت قضاوت خبرگان را به‌صورت نظام‌مند مدل کنند، کم‌تعدادند.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37360"/>
            <a:ext cx="4937760" cy="269748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3" name="Picture 12" descr="g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11680"/>
            <a:ext cx="4206240" cy="210140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66928" y="4617720"/>
            <a:ext cx="11057839" cy="1417320"/>
          </a:xfrm>
          <a:prstGeom prst="roundRect">
            <a:avLst>
              <a:gd name="adj" fmla="val 9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56848" y="4809744"/>
            <a:ext cx="73152" cy="1033272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09744"/>
            <a:ext cx="10372039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 lang="fa-IR">
                <a:solidFill>
                  <a:srgbClr val="7FD4DC"/>
                </a:solidFill>
                <a:latin typeface="Tahoma"/>
                <a:ea typeface="Tahoma"/>
                <a:cs typeface="Tahoma"/>
              </a:rPr>
              <a:t>پاسخ پژوهش به این خلأ</a:t>
            </a:r>
          </a:p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ارائه یک رویکرد تصمیم‌گیری چندمعیاره فازی ترکیبی که ابعاد انقلاب صنعتی پنجم و اصول اقتصاد چرخشی را هم‌زمان در ارزیابی و اولویت‌بندی تکنولوژی‌های تولید محصول، با مطالعه موردی صنعت بیوتکنولوژی، لحاظ می‌کند.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2239"/>
              </a:gs>
              <a:gs pos="100000">
                <a:srgbClr val="071A2E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554480"/>
            <a:ext cx="4754880" cy="4754880"/>
          </a:xfrm>
          <a:prstGeom prst="ellipse">
            <a:avLst/>
          </a:prstGeom>
          <a:noFill/>
          <a:ln w="15875">
            <a:solidFill>
              <a:srgbClr val="1B4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-1005840"/>
            <a:ext cx="3657600" cy="3657600"/>
          </a:xfrm>
          <a:prstGeom prst="ellipse">
            <a:avLst/>
          </a:prstGeom>
          <a:noFill/>
          <a:ln w="12700">
            <a:solidFill>
              <a:srgbClr val="1B40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82735" y="4206240"/>
            <a:ext cx="4206240" cy="4206240"/>
          </a:xfrm>
          <a:prstGeom prst="ellipse">
            <a:avLst/>
          </a:prstGeom>
          <a:noFill/>
          <a:ln w="15875">
            <a:solidFill>
              <a:srgbClr val="143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44207" y="17830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 lang="fa-IR">
                <a:solidFill>
                  <a:srgbClr val="0E9AA6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6527" y="2971800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روش اجرای تحقیق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795967" y="3950208"/>
            <a:ext cx="1828800" cy="0"/>
          </a:xfrm>
          <a:prstGeom prst="line">
            <a:avLst/>
          </a:prstGeom>
          <a:ln w="31750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846527" y="411480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از شناسایی معیارها و گزینه‌ها تا رتبه‌بندی نهایی فناوری‌ها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2910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۱۷ / ۲۵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سوم | روش‌شناسی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چارچوب کلی روش پژوهش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۱۸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11057839" cy="548640"/>
          </a:xfrm>
          <a:prstGeom prst="roundRect">
            <a:avLst>
              <a:gd name="adj" fmla="val 12000"/>
            </a:avLst>
          </a:prstGeom>
          <a:solidFill>
            <a:srgbClr val="E3F4F6"/>
          </a:solidFill>
          <a:ln w="9525">
            <a:solidFill>
              <a:srgbClr val="B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72768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پژوهش ترکیبی از مطالعات کتابخانه‌ای و میدانی است؛ داده‌ها از پرسشنامه‌های مقایسه زوجی و ماتریس تصمیم خبرگان صنعت بیوتکنولوژی گردآوری می‌شود.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74556" y="2212848"/>
            <a:ext cx="1947672" cy="1965960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84284" y="2212848"/>
            <a:ext cx="1728216" cy="68580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92360" y="2377440"/>
            <a:ext cx="512064" cy="512064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860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مرور ادبیات و نظر خبرگان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860" y="3639312"/>
            <a:ext cx="1655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استخراج معیارها و گزینه‌های بالقوه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9227668" y="3054096"/>
            <a:ext cx="228600" cy="274320"/>
          </a:xfrm>
          <a:prstGeom prst="lef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98284" y="2212848"/>
            <a:ext cx="1947672" cy="1965960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8012" y="2212848"/>
            <a:ext cx="1728216" cy="68580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6088" y="2377440"/>
            <a:ext cx="512064" cy="512064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4588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نهایی‌سازی معیارها و گزینه‌ها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4588" y="3639312"/>
            <a:ext cx="1655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غربالگری توسط خبرگان</a:t>
            </a:r>
          </a:p>
        </p:txBody>
      </p:sp>
      <p:sp>
        <p:nvSpPr>
          <p:cNvPr id="24" name="Left Arrow 23"/>
          <p:cNvSpPr/>
          <p:nvPr/>
        </p:nvSpPr>
        <p:spPr>
          <a:xfrm>
            <a:off x="7051396" y="3054096"/>
            <a:ext cx="228600" cy="274320"/>
          </a:xfrm>
          <a:prstGeom prst="lef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22012" y="2212848"/>
            <a:ext cx="1947672" cy="1965960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231740" y="2212848"/>
            <a:ext cx="1728216" cy="6858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39816" y="2377440"/>
            <a:ext cx="512064" cy="512064"/>
          </a:xfrm>
          <a:prstGeom prst="ellipse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8316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وزن‌دهی معیارها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8316" y="3639312"/>
            <a:ext cx="1655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روش فوکام فازی (FUCOM-F)</a:t>
            </a:r>
          </a:p>
        </p:txBody>
      </p:sp>
      <p:sp>
        <p:nvSpPr>
          <p:cNvPr id="30" name="Left Arrow 29"/>
          <p:cNvSpPr/>
          <p:nvPr/>
        </p:nvSpPr>
        <p:spPr>
          <a:xfrm>
            <a:off x="4875124" y="3054096"/>
            <a:ext cx="228600" cy="274320"/>
          </a:xfrm>
          <a:prstGeom prst="lef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45740" y="2212848"/>
            <a:ext cx="1947672" cy="1965960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55468" y="2212848"/>
            <a:ext cx="1728216" cy="68580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63544" y="2377440"/>
            <a:ext cx="512064" cy="512064"/>
          </a:xfrm>
          <a:prstGeom prst="ellipse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92044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رتبه‌بندی گزینه‌ها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2044" y="3639312"/>
            <a:ext cx="1655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روش تاپسیس فازی (F-TOPSIS)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2698852" y="3054096"/>
            <a:ext cx="228600" cy="274320"/>
          </a:xfrm>
          <a:prstGeom prst="lef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69468" y="2212848"/>
            <a:ext cx="1947672" cy="1965960"/>
          </a:xfrm>
          <a:prstGeom prst="roundRect">
            <a:avLst>
              <a:gd name="adj" fmla="val 7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9196" y="2212848"/>
            <a:ext cx="1728216" cy="68580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487272" y="2377440"/>
            <a:ext cx="512064" cy="512064"/>
          </a:xfrm>
          <a:prstGeom prst="ellipse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5772" y="3017520"/>
            <a:ext cx="165506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معرفی برترین فناوری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5772" y="3639312"/>
            <a:ext cx="1655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وزن معیارها و رتبه نهایی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4526280"/>
            <a:ext cx="5477256" cy="14630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4681728"/>
            <a:ext cx="500176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ورودی‌های مدل</a:t>
            </a:r>
          </a:p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پرسشنامه‌های مقایسه زوجی معیارها (فوکام فازی).</a:t>
            </a:r>
          </a:p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ماتریس تصمیم فازی امتیاز گزینه‌ها بر پایه هر معیار (تاپسیس فازی).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526280"/>
            <a:ext cx="5303520" cy="146304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4681728"/>
            <a:ext cx="482803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خروجی‌های مدل</a:t>
            </a:r>
          </a:p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وزن نهایی هر معیار به‌صورت اعداد فازی.</a:t>
            </a:r>
          </a:p>
          <a:p>
            <a:pPr rtl="1" algn="r" marL="274320" indent="-274320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رتبه‌بندی چهار فناوری سنتز DNA و معرفی گزینه برتر.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سوم | شناسایی معیارها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معیارهای ارزیابی: ۱۵ معیار در ۴ بُعد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۱۹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63040"/>
            <a:ext cx="11057839" cy="512064"/>
          </a:xfrm>
          <a:prstGeom prst="roundRect">
            <a:avLst>
              <a:gd name="adj" fmla="val 12000"/>
            </a:avLst>
          </a:prstGeom>
          <a:solidFill>
            <a:srgbClr val="E3F4F6"/>
          </a:solidFill>
          <a:ln w="9525">
            <a:solidFill>
              <a:srgbClr val="BF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54480"/>
            <a:ext cx="104543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معیارها بر پایه ادبیات پژوهش و با غربالگری خبرگان استخراج شده‌اند (برکه و همکاران، ۲۰۲۱؛ شانتا و همکاران، ۲۰۲۴).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084832"/>
            <a:ext cx="2615184" cy="267004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6840" y="2084832"/>
            <a:ext cx="2615184" cy="420624"/>
          </a:xfrm>
          <a:prstGeom prst="roundRect">
            <a:avLst>
              <a:gd name="adj" fmla="val 36000"/>
            </a:avLst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7627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فناورانه و دیجیتال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15184"/>
            <a:ext cx="23408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در دسترس بودن فناوری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سطح اتوماسیون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قابلیت یکپارچه‌سازی داده‌ها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پشتیبانی فنی و پتانسیل نوآوری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سرعت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انعطاف‌پذیری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084832"/>
            <a:ext cx="2615184" cy="267004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2084832"/>
            <a:ext cx="2615184" cy="420624"/>
          </a:xfrm>
          <a:prstGeom prst="roundRect">
            <a:avLst>
              <a:gd name="adj" fmla="val 36000"/>
            </a:avLst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17627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اقتصادی و انرژی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15184"/>
            <a:ext cx="23408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موارد مالی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E0932F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مصرف انرژی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4136" y="2084832"/>
            <a:ext cx="2615184" cy="267004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74136" y="2084832"/>
            <a:ext cx="2615184" cy="420624"/>
          </a:xfrm>
          <a:prstGeom prst="roundRect">
            <a:avLst>
              <a:gd name="adj" fmla="val 36000"/>
            </a:avLst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1296" y="217627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پایداری و چرخش‌پذیری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296" y="2615184"/>
            <a:ext cx="23408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میزان آلایندگی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1E8E63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بهره‌وری بازیافت مواد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" y="2084832"/>
            <a:ext cx="2615184" cy="267004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7784" y="2084832"/>
            <a:ext cx="2615184" cy="420624"/>
          </a:xfrm>
          <a:prstGeom prst="roundRect">
            <a:avLst>
              <a:gd name="adj" fmla="val 36000"/>
            </a:avLst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2176272"/>
            <a:ext cx="23408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انسان‌محوری و تاب‌آوری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2615184"/>
            <a:ext cx="2340864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موارد اجتماعی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ایمنی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آموزش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همکاری</a:t>
            </a:r>
          </a:p>
          <a:p>
            <a:pPr rtl="1" algn="r" marL="274320" indent="-27432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قابلیت بازیابی ظرفیت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92040"/>
            <a:ext cx="11057839" cy="749808"/>
          </a:xfrm>
          <a:prstGeom prst="roundRect">
            <a:avLst>
              <a:gd name="adj" fmla="val 10000"/>
            </a:avLst>
          </a:prstGeom>
          <a:solidFill>
            <a:srgbClr val="F6F9FC"/>
          </a:solidFill>
          <a:ln w="9525">
            <a:solidFill>
              <a:srgbClr val="C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047488"/>
            <a:ext cx="10454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خروجی این مرحله: </a:t>
            </a:r>
            <a:r>
              <a:rPr sz="11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فهرست نهایی معیارها و زیرمعیارها برای وزن‌دهی با فوکام فازی؛ به‌گونه‌ای که ابعاد پایداری، تاب‌آوری، دیجیتال بودن، انسان‌محوری و اقتصاد چرخشی را پوشش دهد.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797296"/>
            <a:ext cx="11057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هر معیار دارای تعریف عملیاتی و مرجع مستند در جدول ۳-۱ پایان‌نامه است؛ زیرمعیارها در سطح دوم سلسله‌مراتب وزن‌دهی می‌شوند.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سوم | شناسایی گزینه‌ها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گزینه‌های پژوهش: چهار فناوری سنتز DNA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۲۰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17904"/>
            <a:ext cx="7095744" cy="1060704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8" y="1517904"/>
            <a:ext cx="6876288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27080" y="1755648"/>
            <a:ext cx="566928" cy="566928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645920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سنتز DNA با فناوری میکروفلوئیدیک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975104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کانال‌های بسیار باریک برای واکنش‌های شیمیایی؛ کاهش چشمگیر مصرف مواد، دقت بالاتر و کنترل بهتر پارامترهای فرایند.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651760"/>
            <a:ext cx="7095744" cy="1060704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36008" y="2651760"/>
            <a:ext cx="6876288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27080" y="2889504"/>
            <a:ext cx="566928" cy="566928"/>
          </a:xfrm>
          <a:prstGeom prst="ellipse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79776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سنتز DNA بر پایه سیلیکون (دیجیتال)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108960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تراشه سیلیکونی با نانوچاهک (مانند Twist Bioscience)؛ سنتز هم‌زمان ده‌ها هزار توالی با دقت و سرعت بالا.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785616"/>
            <a:ext cx="7095744" cy="1060704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36008" y="3785616"/>
            <a:ext cx="6876288" cy="77724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27080" y="4023360"/>
            <a:ext cx="566928" cy="566928"/>
          </a:xfrm>
          <a:prstGeom prst="ellipse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913632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پلتفرم‌های سنتز ژن یکپارچه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42816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خودکارسازی کل مسیر از طراحی توالی تا سنتز، کلونینگ و تأیید صحت؛ ساده‌سازی و تسریع فرایند تولید ژن.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4919472"/>
            <a:ext cx="7095744" cy="1060704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36008" y="4919472"/>
            <a:ext cx="6876288" cy="77724"/>
          </a:xfrm>
          <a:prstGeom prst="rect">
            <a:avLst/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27080" y="5157216"/>
            <a:ext cx="566928" cy="566928"/>
          </a:xfrm>
          <a:prstGeom prst="ellipse">
            <a:avLst/>
          </a:prstGeom>
          <a:solidFill>
            <a:srgbClr val="E09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5047488"/>
            <a:ext cx="5989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سنتز با کنترل کیفیت یکپارچه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76672"/>
            <a:ext cx="59893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تأیید توالی بلافاصله پس از سنتز با روش‌های طیف‌سنجی یا توالی‌یابی نسل بعد (NGS).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1737360"/>
            <a:ext cx="3657600" cy="420624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dna_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148840"/>
            <a:ext cx="3200400" cy="214871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5528" y="4663440"/>
            <a:ext cx="3200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فرض مطالعه: شرکت مورد مطالعه خدمات سنتز DNA به شرکت‌های بیوتکنولوژی، آزمایشگاه‌های ژنتیک و دانشگاه‌ها ارائه می‌دهد و باید یک دستگاه سنتز ژن انتخاب کند.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سوم | وزن‌دهی معیارها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روش فوکام فازی: چرا و با چه مقیاسی؟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۲۱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81328"/>
            <a:ext cx="5477256" cy="239572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4496" y="1481328"/>
            <a:ext cx="5257800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664208"/>
            <a:ext cx="5001768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چرا فوکام فازی؟</a:t>
            </a:r>
          </a:p>
          <a:p>
            <a:pPr rtl="1" algn="r" marL="274320" indent="-274320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تنها n−۱ مقایسه زوجی لازم است (در برابر AHP و BWM که مقایسه‌های بیشتری می‌خواهند).</a:t>
            </a:r>
          </a:p>
          <a:p>
            <a:pPr rtl="1" algn="r" marL="274320" indent="-274320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سازگاری کامل مقایسه‌ها تضمین می‌شود و ناسازگاری قضاوت‌ها به حداقل می‌رسد.</a:t>
            </a:r>
          </a:p>
          <a:p>
            <a:pPr rtl="1" algn="r" marL="274320" indent="-274320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ترکیب با منطق فازی، ابهام و عدم‌قطعیت نظرات خبرگان را بازتاب می‌دهد.</a:t>
            </a:r>
          </a:p>
          <a:p>
            <a:pPr rtl="1" algn="r" marL="274320" indent="-274320">
              <a:lnSpc>
                <a:spcPct val="126000"/>
              </a:lnSpc>
              <a:spcBef>
                <a:spcPts val="0"/>
              </a:spcBef>
              <a:spcAft>
                <a:spcPts val="7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توسعه‌یافته توسط پاموچار و همکاران (۲۰۱۸)، با دقت و پایداری بالاتر و زمان محاسبه کمتر.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1481328"/>
            <a:ext cx="5303520" cy="2395728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" y="1481328"/>
            <a:ext cx="5084064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1664208"/>
            <a:ext cx="4828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مقیاس فازی متغیرهای زبانی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2084832"/>
            <a:ext cx="4828032" cy="301752"/>
          </a:xfrm>
          <a:prstGeom prst="roundRect">
            <a:avLst>
              <a:gd name="adj" fmla="val 14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125980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کاملاً مهم‌تر   </a:t>
            </a:r>
            <a:r>
              <a:rPr sz="10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(۷/۲، ۴، ۹/۲)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" y="2423160"/>
            <a:ext cx="4828032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2464308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خیلی مهم‌تر   </a:t>
            </a:r>
            <a:r>
              <a:rPr sz="10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(۵/۲، ۳، ۷/۲)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2761488"/>
            <a:ext cx="4828032" cy="301752"/>
          </a:xfrm>
          <a:prstGeom prst="roundRect">
            <a:avLst>
              <a:gd name="adj" fmla="val 14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802636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تقریباً مهم‌تر   </a:t>
            </a:r>
            <a:r>
              <a:rPr sz="10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(۳/۲، ۲، ۵/۲)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" y="3099816"/>
            <a:ext cx="4828032" cy="3017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140964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اندکی مهم‌تر   </a:t>
            </a:r>
            <a:r>
              <a:rPr sz="10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(۲/۳، ۱، ۳/۲)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3438144"/>
            <a:ext cx="4828032" cy="301752"/>
          </a:xfrm>
          <a:prstGeom prst="roundRect">
            <a:avLst>
              <a:gd name="adj" fmla="val 14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479292"/>
            <a:ext cx="4480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برابر   </a:t>
            </a:r>
            <a:r>
              <a:rPr sz="10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(۱، ۱، ۱)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4" y="4114800"/>
            <a:ext cx="3520440" cy="1170432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11312" y="4114800"/>
            <a:ext cx="3300984" cy="68580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279392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گام 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572000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رتبه‌بندی معیارها از کم‌ترین به بیشترین وزن مورد انتظار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11640312" y="4572000"/>
            <a:ext cx="210312" cy="274320"/>
          </a:xfrm>
          <a:prstGeom prst="lef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34256" y="4114800"/>
            <a:ext cx="3520440" cy="1170432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43984" y="4114800"/>
            <a:ext cx="3300984" cy="6858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4279392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E9AA6"/>
                </a:solidFill>
                <a:latin typeface="Tahoma"/>
                <a:ea typeface="Tahoma"/>
                <a:cs typeface="Tahoma"/>
              </a:rPr>
              <a:t>گام 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4572000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مقایسه زوجی تنها بین معیارهای مجاور در رتبه‌بندی</a:t>
            </a:r>
          </a:p>
        </p:txBody>
      </p:sp>
      <p:sp>
        <p:nvSpPr>
          <p:cNvPr id="36" name="Left Arrow 35"/>
          <p:cNvSpPr/>
          <p:nvPr/>
        </p:nvSpPr>
        <p:spPr>
          <a:xfrm>
            <a:off x="7872984" y="4572000"/>
            <a:ext cx="210312" cy="274320"/>
          </a:xfrm>
          <a:prstGeom prst="leftArrow">
            <a:avLst/>
          </a:prstGeom>
          <a:solidFill>
            <a:srgbClr val="B9CB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4114800"/>
            <a:ext cx="3520440" cy="1170432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76656" y="4114800"/>
            <a:ext cx="3300984" cy="68580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4279392"/>
            <a:ext cx="3081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1E8E63"/>
                </a:solidFill>
                <a:latin typeface="Tahoma"/>
                <a:ea typeface="Tahoma"/>
                <a:cs typeface="Tahoma"/>
              </a:rPr>
              <a:t>گام 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" y="4572000"/>
            <a:ext cx="308152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حل مدل ریاضی و استخراج وزن‌های فازی معیارها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486400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596128"/>
            <a:ext cx="1045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خروجی: بردار وزن فازی معیارها که ورودی مرحله‌ی رتبه‌بندی گزینه‌ها با تاپسیس فازی است.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سوم | وزن‌دهی معیارها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گام‌های روش فوکام فازی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۲۲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54480"/>
            <a:ext cx="3520440" cy="331012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1312" y="1554480"/>
            <a:ext cx="3300984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18904" y="1755648"/>
            <a:ext cx="685800" cy="685800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606040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شناسایی و مرتب‌سازی معیارها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3255264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مجموعه معیارها C = {C۱, C۲, …, Cn} تعیین و توسط خبرگان بر اساس اهمیت رتبه‌بندی می‌شود؛ از معیاری با کم‌ترین وزن مورد انتظار آغاز و به معیار با بیشترین وزن ختم می‌شود.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4" y="4379976"/>
            <a:ext cx="3063240" cy="36576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4443984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خروجی: ترتیب معیارها بر پایه اهمیت مورد انتظار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554480"/>
            <a:ext cx="3520440" cy="331012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3984" y="1554480"/>
            <a:ext cx="3300984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51576" y="1755648"/>
            <a:ext cx="685800" cy="685800"/>
          </a:xfrm>
          <a:prstGeom prst="ellipse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2606040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مقایسه‌های زوجی معیارهای مجاور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3255264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تنها معیارهای همجوار در رتبه‌بندی با هم مقایسه می‌شوند تا نسبت ارجحیت هر معیار به معیار بعدی (φ) مشخص شود.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2856" y="4379976"/>
            <a:ext cx="3063240" cy="36576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443984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خروجی: نسبت‌های ارجحیت به‌صورت اعداد فازی مثلثی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1554480"/>
            <a:ext cx="3520440" cy="3310128"/>
          </a:xfrm>
          <a:prstGeom prst="roundRect">
            <a:avLst>
              <a:gd name="adj" fmla="val 5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6656" y="1554480"/>
            <a:ext cx="3300984" cy="77724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84248" y="1755648"/>
            <a:ext cx="685800" cy="685800"/>
          </a:xfrm>
          <a:prstGeom prst="ellipse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2606040"/>
            <a:ext cx="306324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مدل ریاضی استخراج وزن‌های فازی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255264"/>
            <a:ext cx="30632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یک مدل غیرخطی برای کمینه‌سازی ناسازگاری میان مقایسه‌ها طراحی و با محدودیت‌های نسبت وزن‌ها حل می‌شود.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8" y="4379976"/>
            <a:ext cx="3063240" cy="365760"/>
          </a:xfrm>
          <a:prstGeom prst="roundRect">
            <a:avLst>
              <a:gd name="adj" fmla="val 16000"/>
            </a:avLst>
          </a:prstGeom>
          <a:solidFill>
            <a:srgbClr val="F4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4443984"/>
            <a:ext cx="2862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خروجی: بردار وزن فازی معیارها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074920"/>
            <a:ext cx="11057839" cy="960120"/>
          </a:xfrm>
          <a:prstGeom prst="roundRect">
            <a:avLst>
              <a:gd name="adj" fmla="val 9000"/>
            </a:avLst>
          </a:prstGeom>
          <a:solidFill>
            <a:srgbClr val="FDF2E2"/>
          </a:solidFill>
          <a:ln w="9525">
            <a:solidFill>
              <a:srgbClr val="F0D9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30368"/>
            <a:ext cx="1045433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1" i="0" lang="fa-IR">
                <a:solidFill>
                  <a:srgbClr val="E0932F"/>
                </a:solidFill>
                <a:latin typeface="Tahoma"/>
                <a:ea typeface="Tahoma"/>
                <a:cs typeface="Tahoma"/>
              </a:rPr>
              <a:t>شرط سازگاری مدل</a:t>
            </a:r>
          </a:p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میزان انحراف نسبت وزن‌های محاسبه‌شده از مقایسه‌های زوجی خبرگان باید کمینه شود؛ برای مقایسه‌های کاملاً سازگار، این انحراف (χ) برابر صفر است.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سوم | رتبه‌بندی گزینه‌ها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روش تاپسیس فازی: مراحل رتبه‌بندی گزینه‌ها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۲۳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520440" cy="1481328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1312" y="1572768"/>
            <a:ext cx="3300984" cy="73152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63656" y="1792224"/>
            <a:ext cx="475488" cy="475488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105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تشکیل ماتریس تصمیم فازی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231136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امتیاز فازی هر گزینه بر پایه هر معیار، با نظر کارشناسان تعیین می‌شود.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72768"/>
            <a:ext cx="3520440" cy="1481328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3984" y="1572768"/>
            <a:ext cx="3300984" cy="73152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96328" y="1792224"/>
            <a:ext cx="475488" cy="475488"/>
          </a:xfrm>
          <a:prstGeom prst="ellipse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18105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بی‌مقیاس‌سازی ماتریس تصمیم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2231136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نرمال‌سازی ماتریس با روابط مربوطه برای هم‌مقیاس‌کردن معیارها.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1572768"/>
            <a:ext cx="3520440" cy="1481328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" y="1572768"/>
            <a:ext cx="3300984" cy="73152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29000" y="1792224"/>
            <a:ext cx="475488" cy="475488"/>
          </a:xfrm>
          <a:prstGeom prst="ellipse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1810512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تشکیل ماتریس بی‌مقیاس وزنی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2231136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ضرب عناصر ماتریس نرمال‌شده در وزن فازی معیار نظیر خود.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3255264"/>
            <a:ext cx="3520440" cy="1481328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1312" y="3255264"/>
            <a:ext cx="3300984" cy="73152"/>
          </a:xfrm>
          <a:prstGeom prst="rect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63656" y="3474720"/>
            <a:ext cx="475488" cy="475488"/>
          </a:xfrm>
          <a:prstGeom prst="ellipse">
            <a:avLst/>
          </a:prstGeom>
          <a:solidFill>
            <a:srgbClr val="0A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493008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تعیین راه‌حل‌های ایده‌آل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913632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شناسایی راه‌حل ایده‌آل مثبت (A*) و ایده‌آل منفی (A−) برای هر معیار.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6" y="3255264"/>
            <a:ext cx="3520440" cy="1481328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43984" y="3255264"/>
            <a:ext cx="3300984" cy="73152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96328" y="3474720"/>
            <a:ext cx="475488" cy="475488"/>
          </a:xfrm>
          <a:prstGeom prst="ellipse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3493008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محاسبه فاصله تجمیعی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3913632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اندازه‌گیری فاصله هر گزینه از راه‌حل‌های ایده‌آل مثبت و منفی.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255264"/>
            <a:ext cx="3520440" cy="1481328"/>
          </a:xfrm>
          <a:prstGeom prst="roundRect">
            <a:avLst>
              <a:gd name="adj" fmla="val 75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6656" y="3255264"/>
            <a:ext cx="3300984" cy="73152"/>
          </a:xfrm>
          <a:prstGeom prst="rect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429000" y="3474720"/>
            <a:ext cx="475488" cy="475488"/>
          </a:xfrm>
          <a:prstGeom prst="ellipse">
            <a:avLst/>
          </a:prstGeom>
          <a:solidFill>
            <a:srgbClr val="1E8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" y="3493008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محاسبه ضریب نزدیکی و رتبه‌بندی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3913632"/>
            <a:ext cx="311810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محاسبه شاخص تاپسیس (CCi) و رتبه‌بندی نهایی گزینه‌ها.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956048"/>
            <a:ext cx="11057839" cy="1078992"/>
          </a:xfrm>
          <a:prstGeom prst="roundRect">
            <a:avLst>
              <a:gd name="adj" fmla="val 90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56848" y="5120640"/>
            <a:ext cx="73152" cy="749808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5120640"/>
            <a:ext cx="10372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 lang="fa-IR">
                <a:solidFill>
                  <a:srgbClr val="7FD4DC"/>
                </a:solidFill>
                <a:latin typeface="Tahoma"/>
                <a:ea typeface="Tahoma"/>
                <a:cs typeface="Tahoma"/>
              </a:rPr>
              <a:t>خروجی نهایی فصل سوم</a:t>
            </a:r>
          </a:p>
          <a:p>
            <a:pPr rtl="1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برای هر یک از چهار فناوری سنتز DNA، ضریب نزدیکی (CCi) محاسبه و رتبه‌بندی نهایی استخراج می‌شود؛ معیار برتری، بیشترین فاصله از راه‌حل ایده‌آل منفی و کمترین فاصله از راه‌حل ایده‌آل مثبت است.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45391" y="0"/>
            <a:ext cx="146304" cy="187452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10896"/>
            <a:ext cx="10829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فصل سوم | جمع‌بندی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603504"/>
            <a:ext cx="1078351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جمع‌بندی و مسیر پیش رو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98448"/>
            <a:ext cx="11057839" cy="0"/>
          </a:xfrm>
          <a:prstGeom prst="line">
            <a:avLst/>
          </a:prstGeom>
          <a:ln w="12700">
            <a:solidFill>
              <a:srgbClr val="DDE7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253167" y="1298448"/>
            <a:ext cx="1371600" cy="0"/>
          </a:xfrm>
          <a:prstGeom prst="line">
            <a:avLst/>
          </a:prstGeom>
          <a:ln w="28575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47395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ارزیابی تکنولوژی‌های تولید محصول | انقلاب صنعتی پنجم و اقتصاد چرخشی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1727" y="647395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lang="fa-IR">
                <a:solidFill>
                  <a:srgbClr val="244B6E"/>
                </a:solidFill>
                <a:latin typeface="Tahoma"/>
                <a:ea typeface="Tahoma"/>
                <a:cs typeface="Tahoma"/>
              </a:rPr>
              <a:t>۲۴ / ۲۵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5448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11312" y="1554480"/>
            <a:ext cx="3300984" cy="77724"/>
          </a:xfrm>
          <a:prstGeom prst="rect">
            <a:avLst/>
          </a:prstGeom>
          <a:solidFill>
            <a:srgbClr val="244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773936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دستاوردهای پژوهش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19456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چارچوبی یکپارچه برای ارزیابی تکنولوژی‌های تولید در شرایط عدم‌قطعیت.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معیارهایی که هم‌زمان پایداری، انسان‌محوری، تاب‌آوری، دیجیتال بودن و چرخش‌پذیری را می‌سنجند.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>
                <a:srgbClr val="244B6E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روشی کم‌مقایسه و سازگار برای وزن‌دهی (فوکام فازی) و رتبه‌بندی (تاپسیس فازی).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55448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6F9FC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43984" y="1554480"/>
            <a:ext cx="3300984" cy="7772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773936"/>
            <a:ext cx="3063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مزیت‌های رویکرد پیشنهادی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194560"/>
            <a:ext cx="30632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کاهش زمان و هزینه‌ی تصمیم با کمینه‌کردن مقایسه‌های زوجی.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شفافیت و قابلیت دفاع نتایج در برابر ذی‌نفعان و نهادهای تصمیم‌گیر.</a:t>
            </a:r>
          </a:p>
          <a:p>
            <a:pPr rtl="1" algn="r" marL="274320" indent="-274320">
              <a:lnSpc>
                <a:spcPct val="128000"/>
              </a:lnSpc>
              <a:spcBef>
                <a:spcPts val="0"/>
              </a:spcBef>
              <a:spcAft>
                <a:spcPts val="1000"/>
              </a:spcAft>
              <a:buClr>
                <a:srgbClr val="0E9AA6"/>
              </a:buClr>
              <a:buSzPct val="90000"/>
              <a:buFont typeface="Arial"/>
              <a:buChar char="▪"/>
            </a:pPr>
            <a:r>
              <a:rPr sz="1050" b="0" i="0" lang="fa-IR">
                <a:solidFill>
                  <a:srgbClr val="2B3B4A"/>
                </a:solidFill>
                <a:latin typeface="Tahoma"/>
                <a:ea typeface="Tahoma"/>
                <a:cs typeface="Tahoma"/>
              </a:rPr>
              <a:t>قابلیت تعمیم به سایر صنایع پیشرفته و مقایسه سناریوهای فناوری.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554480"/>
            <a:ext cx="3520440" cy="288036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D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0" name="Picture 19" descr="resil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55648"/>
            <a:ext cx="2194560" cy="185556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3401568"/>
            <a:ext cx="31089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fa-IR">
                <a:solidFill>
                  <a:srgbClr val="637484"/>
                </a:solidFill>
                <a:latin typeface="Tahoma"/>
                <a:ea typeface="Tahoma"/>
                <a:cs typeface="Tahoma"/>
              </a:rPr>
              <a:t>تاب‌آوری، پایداری و انسان‌محوری: سه معیار کلیدی که چارچوب حاضر به‌صورت هم‌زمان وارد ارزیابی کرده است.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26864"/>
            <a:ext cx="11057839" cy="1371600"/>
          </a:xfrm>
          <a:prstGeom prst="roundRect">
            <a:avLst>
              <a:gd name="adj" fmla="val 9000"/>
            </a:avLst>
          </a:prstGeom>
          <a:solidFill>
            <a:srgbClr val="F6F9FC"/>
          </a:solidFill>
          <a:ln w="9525">
            <a:solidFill>
              <a:srgbClr val="C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791456"/>
            <a:ext cx="104543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r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lang="fa-IR">
                <a:solidFill>
                  <a:srgbClr val="0A6E7C"/>
                </a:solidFill>
                <a:latin typeface="Tahoma"/>
                <a:ea typeface="Tahoma"/>
                <a:cs typeface="Tahoma"/>
              </a:rPr>
              <a:t>گام‌های بعدی پژوهش (فصل چهارم و پنجم)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34856" y="5230368"/>
            <a:ext cx="2377440" cy="566928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تکمیل پرسشنامه‌های خبرگان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8906256" y="5340096"/>
            <a:ext cx="182880" cy="237744"/>
          </a:xfrm>
          <a:prstGeom prst="leftArrow">
            <a:avLst/>
          </a:prstGeom>
          <a:solidFill>
            <a:srgbClr val="8F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37960" y="5230368"/>
            <a:ext cx="2377440" cy="566928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محاسبه وزن‌های فازی معیارها</a:t>
            </a:r>
          </a:p>
        </p:txBody>
      </p:sp>
      <p:sp>
        <p:nvSpPr>
          <p:cNvPr id="27" name="Left Arrow 26"/>
          <p:cNvSpPr/>
          <p:nvPr/>
        </p:nvSpPr>
        <p:spPr>
          <a:xfrm>
            <a:off x="6309360" y="5340096"/>
            <a:ext cx="182880" cy="237744"/>
          </a:xfrm>
          <a:prstGeom prst="leftArrow">
            <a:avLst/>
          </a:prstGeom>
          <a:solidFill>
            <a:srgbClr val="8F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41064" y="5230368"/>
            <a:ext cx="2377440" cy="566928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تشکیل ماتریس تصمیم و رتبه‌بندی</a:t>
            </a:r>
          </a:p>
        </p:txBody>
      </p:sp>
      <p:sp>
        <p:nvSpPr>
          <p:cNvPr id="29" name="Left Arrow 28"/>
          <p:cNvSpPr/>
          <p:nvPr/>
        </p:nvSpPr>
        <p:spPr>
          <a:xfrm>
            <a:off x="3712464" y="5340096"/>
            <a:ext cx="182880" cy="237744"/>
          </a:xfrm>
          <a:prstGeom prst="leftArrow">
            <a:avLst/>
          </a:prstGeom>
          <a:solidFill>
            <a:srgbClr val="8F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344168" y="5230368"/>
            <a:ext cx="2377440" cy="566928"/>
          </a:xfrm>
          <a:prstGeom prst="roundRect">
            <a:avLst>
              <a:gd name="adj" fmla="val 3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fa-IR">
                <a:solidFill>
                  <a:srgbClr val="0B2239"/>
                </a:solidFill>
                <a:latin typeface="Tahoma"/>
                <a:ea typeface="Tahoma"/>
                <a:cs typeface="Tahoma"/>
              </a:rPr>
              <a:t>تحلیل حساسیت و اعتبارسنجی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rt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395728"/>
            <a:ext cx="9262872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lang="fa-IR">
                <a:solidFill>
                  <a:srgbClr val="FFFFFF"/>
                </a:solidFill>
                <a:latin typeface="Tahoma"/>
                <a:ea typeface="Tahoma"/>
                <a:cs typeface="Tahoma"/>
              </a:rPr>
              <a:t>با تشکر از توجه شما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184648" y="3429000"/>
            <a:ext cx="1828800" cy="0"/>
          </a:xfrm>
          <a:prstGeom prst="line">
            <a:avLst/>
          </a:prstGeom>
          <a:ln w="31750">
            <a:solidFill>
              <a:srgbClr val="0E9A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77440" y="3611880"/>
            <a:ext cx="74340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rtl="1"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fa-IR">
                <a:solidFill>
                  <a:srgbClr val="9FD9DF"/>
                </a:solidFill>
                <a:latin typeface="Tahoma"/>
                <a:ea typeface="Tahoma"/>
                <a:cs typeface="Tahoma"/>
              </a:rPr>
              <a:t>پرسش و پاسخ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4160520"/>
            <a:ext cx="74340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lang="fa-IR">
                <a:solidFill>
                  <a:srgbClr val="D8E4EE"/>
                </a:solidFill>
                <a:latin typeface="Tahoma"/>
                <a:ea typeface="Tahoma"/>
                <a:cs typeface="Tahoma"/>
              </a:rPr>
              <a:t>ارزیابی تکنولوژی‌های تولید محصول بر پایه ابعاد انقلاب صنعتی پنجم و اقتصاد چرخشی | صنعت بیوتکنولوژی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ارزیابی تکنولوژی‌های تولید محصول بر پایه ابعاد انقلاب صنعتی پنجم و اقتصاد چرخشی</dc:title>
  <dc:subject>رویکرد تصمیم‌گیری ترکیبی فازی | صنعت بیوتکنولوژی</dc:subject>
  <dc:creator>ارائه برگرفته از پایان‌نامه (فصل‌های اول تا سوم)</dc:creator>
  <cp:keywords>Industry 5.0; Circular Economy; FUCOM-F; F-TOPSIS; Biotechnology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